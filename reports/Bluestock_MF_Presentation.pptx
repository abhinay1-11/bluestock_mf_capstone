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05" r:id="rId5"/>
    <p:sldId id="306" r:id="rId6"/>
    <p:sldId id="307" r:id="rId7"/>
    <p:sldId id="308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1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82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CF6A61-338D-498F-B266-BB0644FBBC37}" type="doc">
      <dgm:prSet loTypeId="urn:microsoft.com/office/officeart/2018/2/layout/Icon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7AC13DD5-2971-41C7-8F1C-5C78C1AC393A}">
      <dgm:prSet/>
      <dgm:spPr/>
      <dgm:t>
        <a:bodyPr/>
        <a:lstStyle/>
        <a:p>
          <a:r>
            <a:rPr lang="en-IN" b="1"/>
            <a:t>Layer 1 — Extract:</a:t>
          </a:r>
          <a:r>
            <a:rPr lang="en-IN"/>
            <a:t> AMFI CSVs, mfapi.in REST API </a:t>
          </a:r>
          <a:endParaRPr lang="en-US"/>
        </a:p>
      </dgm:t>
    </dgm:pt>
    <dgm:pt modelId="{ECFA43EB-9589-496E-9950-EC8C8BA6DF95}" type="parTrans" cxnId="{F5405F9D-16FB-49A4-BDEF-1A195A3A36C0}">
      <dgm:prSet/>
      <dgm:spPr/>
      <dgm:t>
        <a:bodyPr/>
        <a:lstStyle/>
        <a:p>
          <a:endParaRPr lang="en-US"/>
        </a:p>
      </dgm:t>
    </dgm:pt>
    <dgm:pt modelId="{C4D774C8-540C-4AEE-9169-F015344F6DAC}" type="sibTrans" cxnId="{F5405F9D-16FB-49A4-BDEF-1A195A3A36C0}">
      <dgm:prSet/>
      <dgm:spPr/>
      <dgm:t>
        <a:bodyPr/>
        <a:lstStyle/>
        <a:p>
          <a:endParaRPr lang="en-US"/>
        </a:p>
      </dgm:t>
    </dgm:pt>
    <dgm:pt modelId="{BD597392-7218-4EE7-AFF4-932358F4AE2F}">
      <dgm:prSet/>
      <dgm:spPr/>
      <dgm:t>
        <a:bodyPr/>
        <a:lstStyle/>
        <a:p>
          <a:r>
            <a:rPr lang="en-IN" b="1"/>
            <a:t>Layer 2 — Transform:</a:t>
          </a:r>
          <a:r>
            <a:rPr lang="en-IN"/>
            <a:t> Pandas cleaning, forward-fill NAV, validate AMFI codes</a:t>
          </a:r>
          <a:endParaRPr lang="en-US"/>
        </a:p>
      </dgm:t>
    </dgm:pt>
    <dgm:pt modelId="{EA028C75-B78E-420E-ABC1-37D8A12B7516}" type="parTrans" cxnId="{63FECA5D-733A-499C-8B35-1E8FF0AE1F8C}">
      <dgm:prSet/>
      <dgm:spPr/>
      <dgm:t>
        <a:bodyPr/>
        <a:lstStyle/>
        <a:p>
          <a:endParaRPr lang="en-US"/>
        </a:p>
      </dgm:t>
    </dgm:pt>
    <dgm:pt modelId="{E819A933-362A-4509-9DF7-D9E60CB0BBAF}" type="sibTrans" cxnId="{63FECA5D-733A-499C-8B35-1E8FF0AE1F8C}">
      <dgm:prSet/>
      <dgm:spPr/>
      <dgm:t>
        <a:bodyPr/>
        <a:lstStyle/>
        <a:p>
          <a:endParaRPr lang="en-US"/>
        </a:p>
      </dgm:t>
    </dgm:pt>
    <dgm:pt modelId="{09930025-2614-4547-AC2F-4FAEFD68A2B0}">
      <dgm:prSet/>
      <dgm:spPr/>
      <dgm:t>
        <a:bodyPr/>
        <a:lstStyle/>
        <a:p>
          <a:r>
            <a:rPr lang="en-IN" b="1"/>
            <a:t>Layer 3 — Load:</a:t>
          </a:r>
          <a:r>
            <a:rPr lang="en-IN"/>
            <a:t> SQLite star schema (5 tables) </a:t>
          </a:r>
          <a:endParaRPr lang="en-US"/>
        </a:p>
      </dgm:t>
    </dgm:pt>
    <dgm:pt modelId="{475A42CE-BF5E-40AF-9431-E11C06E0CA61}" type="parTrans" cxnId="{0638061F-9CAC-4E6E-ADDD-75301A42CF4F}">
      <dgm:prSet/>
      <dgm:spPr/>
      <dgm:t>
        <a:bodyPr/>
        <a:lstStyle/>
        <a:p>
          <a:endParaRPr lang="en-US"/>
        </a:p>
      </dgm:t>
    </dgm:pt>
    <dgm:pt modelId="{9E2A1CED-9211-42B3-A3B9-ECA6E763436A}" type="sibTrans" cxnId="{0638061F-9CAC-4E6E-ADDD-75301A42CF4F}">
      <dgm:prSet/>
      <dgm:spPr/>
      <dgm:t>
        <a:bodyPr/>
        <a:lstStyle/>
        <a:p>
          <a:endParaRPr lang="en-US"/>
        </a:p>
      </dgm:t>
    </dgm:pt>
    <dgm:pt modelId="{02908950-F0E5-405D-8764-103D39C90328}">
      <dgm:prSet/>
      <dgm:spPr/>
      <dgm:t>
        <a:bodyPr/>
        <a:lstStyle/>
        <a:p>
          <a:r>
            <a:rPr lang="en-IN" b="1"/>
            <a:t>Layer 4 — Analyse:</a:t>
          </a:r>
          <a:r>
            <a:rPr lang="en-IN"/>
            <a:t> Jupyter notebooks, risk metrics </a:t>
          </a:r>
          <a:endParaRPr lang="en-US"/>
        </a:p>
      </dgm:t>
    </dgm:pt>
    <dgm:pt modelId="{8273C5AE-DBFF-45B3-BE1E-62641236633F}" type="parTrans" cxnId="{4688C1F4-05C1-420C-B7E3-A01B2CD80D67}">
      <dgm:prSet/>
      <dgm:spPr/>
      <dgm:t>
        <a:bodyPr/>
        <a:lstStyle/>
        <a:p>
          <a:endParaRPr lang="en-US"/>
        </a:p>
      </dgm:t>
    </dgm:pt>
    <dgm:pt modelId="{1AF08E4B-D310-4217-8856-85D6EDB29008}" type="sibTrans" cxnId="{4688C1F4-05C1-420C-B7E3-A01B2CD80D67}">
      <dgm:prSet/>
      <dgm:spPr/>
      <dgm:t>
        <a:bodyPr/>
        <a:lstStyle/>
        <a:p>
          <a:endParaRPr lang="en-US"/>
        </a:p>
      </dgm:t>
    </dgm:pt>
    <dgm:pt modelId="{4F90E0A7-F2DC-4F39-A075-C146EAADFDAF}">
      <dgm:prSet/>
      <dgm:spPr/>
      <dgm:t>
        <a:bodyPr/>
        <a:lstStyle/>
        <a:p>
          <a:r>
            <a:rPr lang="en-IN" b="1"/>
            <a:t>Layer 5 — Visualise:</a:t>
          </a:r>
          <a:r>
            <a:rPr lang="en-IN"/>
            <a:t> Power BI dashboard (4 pages)</a:t>
          </a:r>
          <a:endParaRPr lang="en-US"/>
        </a:p>
      </dgm:t>
    </dgm:pt>
    <dgm:pt modelId="{82A6E58F-6CCE-4DD3-A543-FD7E4823DEBD}" type="parTrans" cxnId="{F1F6FE70-0FE8-4F7E-80C8-D265451735F4}">
      <dgm:prSet/>
      <dgm:spPr/>
      <dgm:t>
        <a:bodyPr/>
        <a:lstStyle/>
        <a:p>
          <a:endParaRPr lang="en-US"/>
        </a:p>
      </dgm:t>
    </dgm:pt>
    <dgm:pt modelId="{EBF02234-DB63-4803-ABA1-98045D85E8F9}" type="sibTrans" cxnId="{F1F6FE70-0FE8-4F7E-80C8-D265451735F4}">
      <dgm:prSet/>
      <dgm:spPr/>
      <dgm:t>
        <a:bodyPr/>
        <a:lstStyle/>
        <a:p>
          <a:endParaRPr lang="en-US"/>
        </a:p>
      </dgm:t>
    </dgm:pt>
    <dgm:pt modelId="{7A5A0C4C-5C47-4B3D-BB11-B07CDD5731D1}" type="pres">
      <dgm:prSet presAssocID="{B2CF6A61-338D-498F-B266-BB0644FBBC37}" presName="root" presStyleCnt="0">
        <dgm:presLayoutVars>
          <dgm:dir/>
          <dgm:resizeHandles val="exact"/>
        </dgm:presLayoutVars>
      </dgm:prSet>
      <dgm:spPr/>
    </dgm:pt>
    <dgm:pt modelId="{BDBACF03-53DA-46E5-89BB-DA60FD61A940}" type="pres">
      <dgm:prSet presAssocID="{7AC13DD5-2971-41C7-8F1C-5C78C1AC393A}" presName="compNode" presStyleCnt="0"/>
      <dgm:spPr/>
    </dgm:pt>
    <dgm:pt modelId="{B9A4FBD5-C4F3-46B2-AC76-DF71A8515F3D}" type="pres">
      <dgm:prSet presAssocID="{7AC13DD5-2971-41C7-8F1C-5C78C1AC393A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2192C4A-A358-419B-AAFE-99E6ED8F6C96}" type="pres">
      <dgm:prSet presAssocID="{7AC13DD5-2971-41C7-8F1C-5C78C1AC393A}" presName="spaceRect" presStyleCnt="0"/>
      <dgm:spPr/>
    </dgm:pt>
    <dgm:pt modelId="{0B324EFD-2544-4B1F-A20C-014E89AC356D}" type="pres">
      <dgm:prSet presAssocID="{7AC13DD5-2971-41C7-8F1C-5C78C1AC393A}" presName="textRect" presStyleLbl="revTx" presStyleIdx="0" presStyleCnt="5">
        <dgm:presLayoutVars>
          <dgm:chMax val="1"/>
          <dgm:chPref val="1"/>
        </dgm:presLayoutVars>
      </dgm:prSet>
      <dgm:spPr/>
    </dgm:pt>
    <dgm:pt modelId="{2A52471B-C318-47FD-ABCC-2EB7907CD6B0}" type="pres">
      <dgm:prSet presAssocID="{C4D774C8-540C-4AEE-9169-F015344F6DAC}" presName="sibTrans" presStyleCnt="0"/>
      <dgm:spPr/>
    </dgm:pt>
    <dgm:pt modelId="{076585C2-E36C-4F30-95B9-4EFF201E9967}" type="pres">
      <dgm:prSet presAssocID="{BD597392-7218-4EE7-AFF4-932358F4AE2F}" presName="compNode" presStyleCnt="0"/>
      <dgm:spPr/>
    </dgm:pt>
    <dgm:pt modelId="{D4BC6D4E-4775-4187-8791-DAB85BDBCCFB}" type="pres">
      <dgm:prSet presAssocID="{BD597392-7218-4EE7-AFF4-932358F4AE2F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DFEC0865-BBAE-42F5-8BF2-7144485BD634}" type="pres">
      <dgm:prSet presAssocID="{BD597392-7218-4EE7-AFF4-932358F4AE2F}" presName="spaceRect" presStyleCnt="0"/>
      <dgm:spPr/>
    </dgm:pt>
    <dgm:pt modelId="{7857D35E-081E-41A1-B51B-6ECF3E5C10F3}" type="pres">
      <dgm:prSet presAssocID="{BD597392-7218-4EE7-AFF4-932358F4AE2F}" presName="textRect" presStyleLbl="revTx" presStyleIdx="1" presStyleCnt="5">
        <dgm:presLayoutVars>
          <dgm:chMax val="1"/>
          <dgm:chPref val="1"/>
        </dgm:presLayoutVars>
      </dgm:prSet>
      <dgm:spPr/>
    </dgm:pt>
    <dgm:pt modelId="{BCDC0609-FD16-4112-8AFE-334DDEF358B5}" type="pres">
      <dgm:prSet presAssocID="{E819A933-362A-4509-9DF7-D9E60CB0BBAF}" presName="sibTrans" presStyleCnt="0"/>
      <dgm:spPr/>
    </dgm:pt>
    <dgm:pt modelId="{DE5FB356-E194-4CF8-A82B-9C1489725410}" type="pres">
      <dgm:prSet presAssocID="{09930025-2614-4547-AC2F-4FAEFD68A2B0}" presName="compNode" presStyleCnt="0"/>
      <dgm:spPr/>
    </dgm:pt>
    <dgm:pt modelId="{AF9A1EB0-64CB-4A12-B472-9742B8A36E6A}" type="pres">
      <dgm:prSet presAssocID="{09930025-2614-4547-AC2F-4FAEFD68A2B0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4392905F-30D3-4EB5-A676-8E7EB44D7881}" type="pres">
      <dgm:prSet presAssocID="{09930025-2614-4547-AC2F-4FAEFD68A2B0}" presName="spaceRect" presStyleCnt="0"/>
      <dgm:spPr/>
    </dgm:pt>
    <dgm:pt modelId="{FC421463-956F-4011-ADAA-93FE49F32BA7}" type="pres">
      <dgm:prSet presAssocID="{09930025-2614-4547-AC2F-4FAEFD68A2B0}" presName="textRect" presStyleLbl="revTx" presStyleIdx="2" presStyleCnt="5">
        <dgm:presLayoutVars>
          <dgm:chMax val="1"/>
          <dgm:chPref val="1"/>
        </dgm:presLayoutVars>
      </dgm:prSet>
      <dgm:spPr/>
    </dgm:pt>
    <dgm:pt modelId="{3064C965-6CAD-4786-8C48-7324B7BF7391}" type="pres">
      <dgm:prSet presAssocID="{9E2A1CED-9211-42B3-A3B9-ECA6E763436A}" presName="sibTrans" presStyleCnt="0"/>
      <dgm:spPr/>
    </dgm:pt>
    <dgm:pt modelId="{B432F2A7-D56F-4822-8729-A8957F7F4960}" type="pres">
      <dgm:prSet presAssocID="{02908950-F0E5-405D-8764-103D39C90328}" presName="compNode" presStyleCnt="0"/>
      <dgm:spPr/>
    </dgm:pt>
    <dgm:pt modelId="{58E9D3B9-BE0E-4569-81ED-387A76E1D18D}" type="pres">
      <dgm:prSet presAssocID="{02908950-F0E5-405D-8764-103D39C90328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46CCC37-81D0-45C3-8CC1-D003601004B1}" type="pres">
      <dgm:prSet presAssocID="{02908950-F0E5-405D-8764-103D39C90328}" presName="spaceRect" presStyleCnt="0"/>
      <dgm:spPr/>
    </dgm:pt>
    <dgm:pt modelId="{F3CC1E42-F006-4D11-B39A-7A98F7DBFAAE}" type="pres">
      <dgm:prSet presAssocID="{02908950-F0E5-405D-8764-103D39C90328}" presName="textRect" presStyleLbl="revTx" presStyleIdx="3" presStyleCnt="5">
        <dgm:presLayoutVars>
          <dgm:chMax val="1"/>
          <dgm:chPref val="1"/>
        </dgm:presLayoutVars>
      </dgm:prSet>
      <dgm:spPr/>
    </dgm:pt>
    <dgm:pt modelId="{AAFC6B72-B319-4FE5-8374-F1080227D729}" type="pres">
      <dgm:prSet presAssocID="{1AF08E4B-D310-4217-8856-85D6EDB29008}" presName="sibTrans" presStyleCnt="0"/>
      <dgm:spPr/>
    </dgm:pt>
    <dgm:pt modelId="{DE5F5347-5730-494A-B544-A66E90E36285}" type="pres">
      <dgm:prSet presAssocID="{4F90E0A7-F2DC-4F39-A075-C146EAADFDAF}" presName="compNode" presStyleCnt="0"/>
      <dgm:spPr/>
    </dgm:pt>
    <dgm:pt modelId="{17ECE037-1504-42BB-AC96-EF302794A830}" type="pres">
      <dgm:prSet presAssocID="{4F90E0A7-F2DC-4F39-A075-C146EAADFDAF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C7B22100-D031-44CE-ACB2-BDE8EA3D2355}" type="pres">
      <dgm:prSet presAssocID="{4F90E0A7-F2DC-4F39-A075-C146EAADFDAF}" presName="spaceRect" presStyleCnt="0"/>
      <dgm:spPr/>
    </dgm:pt>
    <dgm:pt modelId="{E3531D3D-C505-4172-B4F8-EC4A47387EA6}" type="pres">
      <dgm:prSet presAssocID="{4F90E0A7-F2DC-4F39-A075-C146EAADFDA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638061F-9CAC-4E6E-ADDD-75301A42CF4F}" srcId="{B2CF6A61-338D-498F-B266-BB0644FBBC37}" destId="{09930025-2614-4547-AC2F-4FAEFD68A2B0}" srcOrd="2" destOrd="0" parTransId="{475A42CE-BF5E-40AF-9431-E11C06E0CA61}" sibTransId="{9E2A1CED-9211-42B3-A3B9-ECA6E763436A}"/>
    <dgm:cxn modelId="{17D4F040-5D90-402E-A0A0-D86D61461B01}" type="presOf" srcId="{7AC13DD5-2971-41C7-8F1C-5C78C1AC393A}" destId="{0B324EFD-2544-4B1F-A20C-014E89AC356D}" srcOrd="0" destOrd="0" presId="urn:microsoft.com/office/officeart/2018/2/layout/IconLabelList"/>
    <dgm:cxn modelId="{63FECA5D-733A-499C-8B35-1E8FF0AE1F8C}" srcId="{B2CF6A61-338D-498F-B266-BB0644FBBC37}" destId="{BD597392-7218-4EE7-AFF4-932358F4AE2F}" srcOrd="1" destOrd="0" parTransId="{EA028C75-B78E-420E-ABC1-37D8A12B7516}" sibTransId="{E819A933-362A-4509-9DF7-D9E60CB0BBAF}"/>
    <dgm:cxn modelId="{3BFA0E62-8C01-4020-B7FE-678127DAC108}" type="presOf" srcId="{B2CF6A61-338D-498F-B266-BB0644FBBC37}" destId="{7A5A0C4C-5C47-4B3D-BB11-B07CDD5731D1}" srcOrd="0" destOrd="0" presId="urn:microsoft.com/office/officeart/2018/2/layout/IconLabelList"/>
    <dgm:cxn modelId="{F1F6FE70-0FE8-4F7E-80C8-D265451735F4}" srcId="{B2CF6A61-338D-498F-B266-BB0644FBBC37}" destId="{4F90E0A7-F2DC-4F39-A075-C146EAADFDAF}" srcOrd="4" destOrd="0" parTransId="{82A6E58F-6CCE-4DD3-A543-FD7E4823DEBD}" sibTransId="{EBF02234-DB63-4803-ABA1-98045D85E8F9}"/>
    <dgm:cxn modelId="{061E6755-3FE1-4D29-8BA4-91AB9B6C58BA}" type="presOf" srcId="{09930025-2614-4547-AC2F-4FAEFD68A2B0}" destId="{FC421463-956F-4011-ADAA-93FE49F32BA7}" srcOrd="0" destOrd="0" presId="urn:microsoft.com/office/officeart/2018/2/layout/IconLabelList"/>
    <dgm:cxn modelId="{F5405F9D-16FB-49A4-BDEF-1A195A3A36C0}" srcId="{B2CF6A61-338D-498F-B266-BB0644FBBC37}" destId="{7AC13DD5-2971-41C7-8F1C-5C78C1AC393A}" srcOrd="0" destOrd="0" parTransId="{ECFA43EB-9589-496E-9950-EC8C8BA6DF95}" sibTransId="{C4D774C8-540C-4AEE-9169-F015344F6DAC}"/>
    <dgm:cxn modelId="{16674DBD-30F8-493C-8D40-F23FEB73A391}" type="presOf" srcId="{4F90E0A7-F2DC-4F39-A075-C146EAADFDAF}" destId="{E3531D3D-C505-4172-B4F8-EC4A47387EA6}" srcOrd="0" destOrd="0" presId="urn:microsoft.com/office/officeart/2018/2/layout/IconLabelList"/>
    <dgm:cxn modelId="{EA0DFFD0-7063-44E9-B06B-47BA6F627786}" type="presOf" srcId="{02908950-F0E5-405D-8764-103D39C90328}" destId="{F3CC1E42-F006-4D11-B39A-7A98F7DBFAAE}" srcOrd="0" destOrd="0" presId="urn:microsoft.com/office/officeart/2018/2/layout/IconLabelList"/>
    <dgm:cxn modelId="{5E1663DB-E952-483B-917A-8F596BAD0E17}" type="presOf" srcId="{BD597392-7218-4EE7-AFF4-932358F4AE2F}" destId="{7857D35E-081E-41A1-B51B-6ECF3E5C10F3}" srcOrd="0" destOrd="0" presId="urn:microsoft.com/office/officeart/2018/2/layout/IconLabelList"/>
    <dgm:cxn modelId="{4688C1F4-05C1-420C-B7E3-A01B2CD80D67}" srcId="{B2CF6A61-338D-498F-B266-BB0644FBBC37}" destId="{02908950-F0E5-405D-8764-103D39C90328}" srcOrd="3" destOrd="0" parTransId="{8273C5AE-DBFF-45B3-BE1E-62641236633F}" sibTransId="{1AF08E4B-D310-4217-8856-85D6EDB29008}"/>
    <dgm:cxn modelId="{C5866C2D-9B32-4BC2-90B8-4256B37454C1}" type="presParOf" srcId="{7A5A0C4C-5C47-4B3D-BB11-B07CDD5731D1}" destId="{BDBACF03-53DA-46E5-89BB-DA60FD61A940}" srcOrd="0" destOrd="0" presId="urn:microsoft.com/office/officeart/2018/2/layout/IconLabelList"/>
    <dgm:cxn modelId="{0D2E4C78-A43E-4483-B5D7-55B4914F5E7E}" type="presParOf" srcId="{BDBACF03-53DA-46E5-89BB-DA60FD61A940}" destId="{B9A4FBD5-C4F3-46B2-AC76-DF71A8515F3D}" srcOrd="0" destOrd="0" presId="urn:microsoft.com/office/officeart/2018/2/layout/IconLabelList"/>
    <dgm:cxn modelId="{E6DE749C-AEB4-414B-97A1-7C28A4D97887}" type="presParOf" srcId="{BDBACF03-53DA-46E5-89BB-DA60FD61A940}" destId="{D2192C4A-A358-419B-AAFE-99E6ED8F6C96}" srcOrd="1" destOrd="0" presId="urn:microsoft.com/office/officeart/2018/2/layout/IconLabelList"/>
    <dgm:cxn modelId="{F9219B95-F3B6-4260-AE60-F199E279F046}" type="presParOf" srcId="{BDBACF03-53DA-46E5-89BB-DA60FD61A940}" destId="{0B324EFD-2544-4B1F-A20C-014E89AC356D}" srcOrd="2" destOrd="0" presId="urn:microsoft.com/office/officeart/2018/2/layout/IconLabelList"/>
    <dgm:cxn modelId="{86317885-13C0-464E-8CE9-70682F480642}" type="presParOf" srcId="{7A5A0C4C-5C47-4B3D-BB11-B07CDD5731D1}" destId="{2A52471B-C318-47FD-ABCC-2EB7907CD6B0}" srcOrd="1" destOrd="0" presId="urn:microsoft.com/office/officeart/2018/2/layout/IconLabelList"/>
    <dgm:cxn modelId="{85BB858A-5448-4118-9151-C2EAAA93FCCF}" type="presParOf" srcId="{7A5A0C4C-5C47-4B3D-BB11-B07CDD5731D1}" destId="{076585C2-E36C-4F30-95B9-4EFF201E9967}" srcOrd="2" destOrd="0" presId="urn:microsoft.com/office/officeart/2018/2/layout/IconLabelList"/>
    <dgm:cxn modelId="{075BF516-FA99-42F8-AA68-AE430E4AA498}" type="presParOf" srcId="{076585C2-E36C-4F30-95B9-4EFF201E9967}" destId="{D4BC6D4E-4775-4187-8791-DAB85BDBCCFB}" srcOrd="0" destOrd="0" presId="urn:microsoft.com/office/officeart/2018/2/layout/IconLabelList"/>
    <dgm:cxn modelId="{8F29B0BB-FCA7-4070-AD95-48AA183B4900}" type="presParOf" srcId="{076585C2-E36C-4F30-95B9-4EFF201E9967}" destId="{DFEC0865-BBAE-42F5-8BF2-7144485BD634}" srcOrd="1" destOrd="0" presId="urn:microsoft.com/office/officeart/2018/2/layout/IconLabelList"/>
    <dgm:cxn modelId="{C2081E50-0A8C-4AB2-A777-36609D500C47}" type="presParOf" srcId="{076585C2-E36C-4F30-95B9-4EFF201E9967}" destId="{7857D35E-081E-41A1-B51B-6ECF3E5C10F3}" srcOrd="2" destOrd="0" presId="urn:microsoft.com/office/officeart/2018/2/layout/IconLabelList"/>
    <dgm:cxn modelId="{5F379A2E-20C5-48E2-BEB2-1BFE3E185B71}" type="presParOf" srcId="{7A5A0C4C-5C47-4B3D-BB11-B07CDD5731D1}" destId="{BCDC0609-FD16-4112-8AFE-334DDEF358B5}" srcOrd="3" destOrd="0" presId="urn:microsoft.com/office/officeart/2018/2/layout/IconLabelList"/>
    <dgm:cxn modelId="{8198077C-67F0-4575-8611-C2A01E518A68}" type="presParOf" srcId="{7A5A0C4C-5C47-4B3D-BB11-B07CDD5731D1}" destId="{DE5FB356-E194-4CF8-A82B-9C1489725410}" srcOrd="4" destOrd="0" presId="urn:microsoft.com/office/officeart/2018/2/layout/IconLabelList"/>
    <dgm:cxn modelId="{1A260B3B-D0A9-450F-9773-30F48A860AD8}" type="presParOf" srcId="{DE5FB356-E194-4CF8-A82B-9C1489725410}" destId="{AF9A1EB0-64CB-4A12-B472-9742B8A36E6A}" srcOrd="0" destOrd="0" presId="urn:microsoft.com/office/officeart/2018/2/layout/IconLabelList"/>
    <dgm:cxn modelId="{6515CF1A-0BEF-40F0-BC31-24CE5CF74780}" type="presParOf" srcId="{DE5FB356-E194-4CF8-A82B-9C1489725410}" destId="{4392905F-30D3-4EB5-A676-8E7EB44D7881}" srcOrd="1" destOrd="0" presId="urn:microsoft.com/office/officeart/2018/2/layout/IconLabelList"/>
    <dgm:cxn modelId="{0886DC45-2B07-4B61-829D-6F05B93998EB}" type="presParOf" srcId="{DE5FB356-E194-4CF8-A82B-9C1489725410}" destId="{FC421463-956F-4011-ADAA-93FE49F32BA7}" srcOrd="2" destOrd="0" presId="urn:microsoft.com/office/officeart/2018/2/layout/IconLabelList"/>
    <dgm:cxn modelId="{5E98177E-735D-4C16-B8FD-F63F76C2AB80}" type="presParOf" srcId="{7A5A0C4C-5C47-4B3D-BB11-B07CDD5731D1}" destId="{3064C965-6CAD-4786-8C48-7324B7BF7391}" srcOrd="5" destOrd="0" presId="urn:microsoft.com/office/officeart/2018/2/layout/IconLabelList"/>
    <dgm:cxn modelId="{C52C0919-E7F4-4FA0-A6A0-B7736C519D37}" type="presParOf" srcId="{7A5A0C4C-5C47-4B3D-BB11-B07CDD5731D1}" destId="{B432F2A7-D56F-4822-8729-A8957F7F4960}" srcOrd="6" destOrd="0" presId="urn:microsoft.com/office/officeart/2018/2/layout/IconLabelList"/>
    <dgm:cxn modelId="{D84EDD2B-E061-44FF-8195-C2363429182B}" type="presParOf" srcId="{B432F2A7-D56F-4822-8729-A8957F7F4960}" destId="{58E9D3B9-BE0E-4569-81ED-387A76E1D18D}" srcOrd="0" destOrd="0" presId="urn:microsoft.com/office/officeart/2018/2/layout/IconLabelList"/>
    <dgm:cxn modelId="{97E9AE34-14B4-422B-8A54-6E7397BF57D8}" type="presParOf" srcId="{B432F2A7-D56F-4822-8729-A8957F7F4960}" destId="{546CCC37-81D0-45C3-8CC1-D003601004B1}" srcOrd="1" destOrd="0" presId="urn:microsoft.com/office/officeart/2018/2/layout/IconLabelList"/>
    <dgm:cxn modelId="{C3C878E9-EAAB-4ED2-B9B6-7CBDECD4DEE7}" type="presParOf" srcId="{B432F2A7-D56F-4822-8729-A8957F7F4960}" destId="{F3CC1E42-F006-4D11-B39A-7A98F7DBFAAE}" srcOrd="2" destOrd="0" presId="urn:microsoft.com/office/officeart/2018/2/layout/IconLabelList"/>
    <dgm:cxn modelId="{E04F1E51-2B23-4D69-8F63-EAD9B3A41A27}" type="presParOf" srcId="{7A5A0C4C-5C47-4B3D-BB11-B07CDD5731D1}" destId="{AAFC6B72-B319-4FE5-8374-F1080227D729}" srcOrd="7" destOrd="0" presId="urn:microsoft.com/office/officeart/2018/2/layout/IconLabelList"/>
    <dgm:cxn modelId="{16D827B4-340F-4895-B633-54EDD8F4A020}" type="presParOf" srcId="{7A5A0C4C-5C47-4B3D-BB11-B07CDD5731D1}" destId="{DE5F5347-5730-494A-B544-A66E90E36285}" srcOrd="8" destOrd="0" presId="urn:microsoft.com/office/officeart/2018/2/layout/IconLabelList"/>
    <dgm:cxn modelId="{737CCA70-6CEA-4E21-9540-4697B4082D0E}" type="presParOf" srcId="{DE5F5347-5730-494A-B544-A66E90E36285}" destId="{17ECE037-1504-42BB-AC96-EF302794A830}" srcOrd="0" destOrd="0" presId="urn:microsoft.com/office/officeart/2018/2/layout/IconLabelList"/>
    <dgm:cxn modelId="{3D7AE405-2620-4E49-98B6-A9024F4420EC}" type="presParOf" srcId="{DE5F5347-5730-494A-B544-A66E90E36285}" destId="{C7B22100-D031-44CE-ACB2-BDE8EA3D2355}" srcOrd="1" destOrd="0" presId="urn:microsoft.com/office/officeart/2018/2/layout/IconLabelList"/>
    <dgm:cxn modelId="{DAC20124-DD1E-44CF-B3FB-96F10F8C7568}" type="presParOf" srcId="{DE5F5347-5730-494A-B544-A66E90E36285}" destId="{E3531D3D-C505-4172-B4F8-EC4A47387EA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A4FBD5-C4F3-46B2-AC76-DF71A8515F3D}">
      <dsp:nvSpPr>
        <dsp:cNvPr id="0" name=""/>
        <dsp:cNvSpPr/>
      </dsp:nvSpPr>
      <dsp:spPr>
        <a:xfrm>
          <a:off x="945879" y="163023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324EFD-2544-4B1F-A20C-014E89AC356D}">
      <dsp:nvSpPr>
        <dsp:cNvPr id="0" name=""/>
        <dsp:cNvSpPr/>
      </dsp:nvSpPr>
      <dsp:spPr>
        <a:xfrm>
          <a:off x="450879" y="274601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Layer 1 — Extract:</a:t>
          </a:r>
          <a:r>
            <a:rPr lang="en-IN" sz="1200" kern="1200"/>
            <a:t> AMFI CSVs, mfapi.in REST API </a:t>
          </a:r>
          <a:endParaRPr lang="en-US" sz="1200" kern="1200"/>
        </a:p>
      </dsp:txBody>
      <dsp:txXfrm>
        <a:off x="450879" y="2746014"/>
        <a:ext cx="1800000" cy="720000"/>
      </dsp:txXfrm>
    </dsp:sp>
    <dsp:sp modelId="{D4BC6D4E-4775-4187-8791-DAB85BDBCCFB}">
      <dsp:nvSpPr>
        <dsp:cNvPr id="0" name=""/>
        <dsp:cNvSpPr/>
      </dsp:nvSpPr>
      <dsp:spPr>
        <a:xfrm>
          <a:off x="3060880" y="163023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57D35E-081E-41A1-B51B-6ECF3E5C10F3}">
      <dsp:nvSpPr>
        <dsp:cNvPr id="0" name=""/>
        <dsp:cNvSpPr/>
      </dsp:nvSpPr>
      <dsp:spPr>
        <a:xfrm>
          <a:off x="2565880" y="274601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Layer 2 — Transform:</a:t>
          </a:r>
          <a:r>
            <a:rPr lang="en-IN" sz="1200" kern="1200"/>
            <a:t> Pandas cleaning, forward-fill NAV, validate AMFI codes</a:t>
          </a:r>
          <a:endParaRPr lang="en-US" sz="1200" kern="1200"/>
        </a:p>
      </dsp:txBody>
      <dsp:txXfrm>
        <a:off x="2565880" y="2746014"/>
        <a:ext cx="1800000" cy="720000"/>
      </dsp:txXfrm>
    </dsp:sp>
    <dsp:sp modelId="{AF9A1EB0-64CB-4A12-B472-9742B8A36E6A}">
      <dsp:nvSpPr>
        <dsp:cNvPr id="0" name=""/>
        <dsp:cNvSpPr/>
      </dsp:nvSpPr>
      <dsp:spPr>
        <a:xfrm>
          <a:off x="5175880" y="163023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421463-956F-4011-ADAA-93FE49F32BA7}">
      <dsp:nvSpPr>
        <dsp:cNvPr id="0" name=""/>
        <dsp:cNvSpPr/>
      </dsp:nvSpPr>
      <dsp:spPr>
        <a:xfrm>
          <a:off x="4680880" y="274601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Layer 3 — Load:</a:t>
          </a:r>
          <a:r>
            <a:rPr lang="en-IN" sz="1200" kern="1200"/>
            <a:t> SQLite star schema (5 tables) </a:t>
          </a:r>
          <a:endParaRPr lang="en-US" sz="1200" kern="1200"/>
        </a:p>
      </dsp:txBody>
      <dsp:txXfrm>
        <a:off x="4680880" y="2746014"/>
        <a:ext cx="1800000" cy="720000"/>
      </dsp:txXfrm>
    </dsp:sp>
    <dsp:sp modelId="{58E9D3B9-BE0E-4569-81ED-387A76E1D18D}">
      <dsp:nvSpPr>
        <dsp:cNvPr id="0" name=""/>
        <dsp:cNvSpPr/>
      </dsp:nvSpPr>
      <dsp:spPr>
        <a:xfrm>
          <a:off x="7290880" y="163023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CC1E42-F006-4D11-B39A-7A98F7DBFAAE}">
      <dsp:nvSpPr>
        <dsp:cNvPr id="0" name=""/>
        <dsp:cNvSpPr/>
      </dsp:nvSpPr>
      <dsp:spPr>
        <a:xfrm>
          <a:off x="6795880" y="274601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Layer 4 — Analyse:</a:t>
          </a:r>
          <a:r>
            <a:rPr lang="en-IN" sz="1200" kern="1200"/>
            <a:t> Jupyter notebooks, risk metrics </a:t>
          </a:r>
          <a:endParaRPr lang="en-US" sz="1200" kern="1200"/>
        </a:p>
      </dsp:txBody>
      <dsp:txXfrm>
        <a:off x="6795880" y="2746014"/>
        <a:ext cx="1800000" cy="720000"/>
      </dsp:txXfrm>
    </dsp:sp>
    <dsp:sp modelId="{17ECE037-1504-42BB-AC96-EF302794A830}">
      <dsp:nvSpPr>
        <dsp:cNvPr id="0" name=""/>
        <dsp:cNvSpPr/>
      </dsp:nvSpPr>
      <dsp:spPr>
        <a:xfrm>
          <a:off x="9405880" y="163023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531D3D-C505-4172-B4F8-EC4A47387EA6}">
      <dsp:nvSpPr>
        <dsp:cNvPr id="0" name=""/>
        <dsp:cNvSpPr/>
      </dsp:nvSpPr>
      <dsp:spPr>
        <a:xfrm>
          <a:off x="8910880" y="274601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Layer 5 — Visualise:</a:t>
          </a:r>
          <a:r>
            <a:rPr lang="en-IN" sz="1200" kern="1200"/>
            <a:t> Power BI dashboard (4 pages)</a:t>
          </a:r>
          <a:endParaRPr lang="en-US" sz="1200" kern="1200"/>
        </a:p>
      </dsp:txBody>
      <dsp:txXfrm>
        <a:off x="8910880" y="2746014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6/12/2026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4" name="Title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3" name="Text Placeholder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917E-922A-1054-6306-D37C378F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572" y="3429000"/>
            <a:ext cx="10479024" cy="557784"/>
          </a:xfrm>
        </p:spPr>
        <p:txBody>
          <a:bodyPr/>
          <a:lstStyle/>
          <a:p>
            <a:r>
              <a:rPr lang="en-IN" dirty="0"/>
              <a:t>Subtitle: </a:t>
            </a:r>
            <a:r>
              <a:rPr lang="en-IN" dirty="0" err="1"/>
              <a:t>Bluestock</a:t>
            </a:r>
            <a:r>
              <a:rPr lang="en-IN" dirty="0"/>
              <a:t> Fintech Capstone Project</a:t>
            </a:r>
            <a:br>
              <a:rPr lang="en-IN" dirty="0"/>
            </a:br>
            <a:br>
              <a:rPr lang="en-IN" dirty="0"/>
            </a:br>
            <a:r>
              <a:rPr lang="en-IN" dirty="0"/>
              <a:t>name: M Abhinaya Reddy </a:t>
            </a:r>
            <a:br>
              <a:rPr lang="en-IN" dirty="0"/>
            </a:br>
            <a:br>
              <a:rPr lang="en-IN" dirty="0"/>
            </a:br>
            <a:r>
              <a:rPr lang="en-IN" dirty="0"/>
              <a:t>Date: 12 June 2026</a:t>
            </a:r>
            <a:br>
              <a:rPr lang="en-IN" dirty="0"/>
            </a:br>
            <a:r>
              <a:rPr lang="en-IN" dirty="0"/>
              <a:t>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D50B0-02F8-A1E6-8A67-C0B7034A4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4381" y="1341459"/>
            <a:ext cx="10479215" cy="1477941"/>
          </a:xfrm>
        </p:spPr>
        <p:txBody>
          <a:bodyPr/>
          <a:lstStyle/>
          <a:p>
            <a:r>
              <a:rPr lang="en-IN" sz="5400" dirty="0"/>
              <a:t>Title: Mutual Fund Analytics Platform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6923F-2B95-8D5A-8578-DBC0FC0D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IN" dirty="0"/>
              <a:t>Problem &amp; Objective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F7AA9-7C16-A939-67C8-DF700FEF7D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7769352" cy="4479925"/>
          </a:xfrm>
        </p:spPr>
        <p:txBody>
          <a:bodyPr>
            <a:normAutofit/>
          </a:bodyPr>
          <a:lstStyle/>
          <a:p>
            <a:r>
              <a:rPr lang="en-IN" dirty="0"/>
              <a:t>Data fragmentation across AMFI, NAV, SIP sources .</a:t>
            </a:r>
          </a:p>
          <a:p>
            <a:r>
              <a:rPr lang="en-IN" dirty="0"/>
              <a:t>No unified risk-adjusted performance comparison .</a:t>
            </a:r>
          </a:p>
          <a:p>
            <a:r>
              <a:rPr lang="en-IN" dirty="0"/>
              <a:t>No benchmark tracking for retail investors.</a:t>
            </a:r>
          </a:p>
          <a:p>
            <a:r>
              <a:rPr lang="en-IN" dirty="0"/>
              <a:t>Static PDF reports with no drill-down capability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A6BC-F3A8-6DDC-F1F8-6348F54E8B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63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F36F11-A50A-4347-9430-9522EAFCA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/>
          <a:lstStyle/>
          <a:p>
            <a:r>
              <a:rPr lang="en-IN" dirty="0"/>
              <a:t>Data Sources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1E0E93-C6B0-0C8B-16D2-354982229D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191999" y="4880525"/>
            <a:ext cx="778933" cy="45719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5D01127-BE05-9BC9-3755-D57B29F8BF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167649"/>
              </p:ext>
            </p:extLst>
          </p:nvPr>
        </p:nvGraphicFramePr>
        <p:xfrm>
          <a:off x="710233" y="1251130"/>
          <a:ext cx="10378199" cy="5516062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066225">
                  <a:extLst>
                    <a:ext uri="{9D8B030D-6E8A-4147-A177-3AD203B41FA5}">
                      <a16:colId xmlns:a16="http://schemas.microsoft.com/office/drawing/2014/main" val="3153528237"/>
                    </a:ext>
                  </a:extLst>
                </a:gridCol>
                <a:gridCol w="3655987">
                  <a:extLst>
                    <a:ext uri="{9D8B030D-6E8A-4147-A177-3AD203B41FA5}">
                      <a16:colId xmlns:a16="http://schemas.microsoft.com/office/drawing/2014/main" val="3231518286"/>
                    </a:ext>
                  </a:extLst>
                </a:gridCol>
                <a:gridCol w="3655987">
                  <a:extLst>
                    <a:ext uri="{9D8B030D-6E8A-4147-A177-3AD203B41FA5}">
                      <a16:colId xmlns:a16="http://schemas.microsoft.com/office/drawing/2014/main" val="426806377"/>
                    </a:ext>
                  </a:extLst>
                </a:gridCol>
              </a:tblGrid>
              <a:tr h="321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5415028"/>
                  </a:ext>
                </a:extLst>
              </a:tr>
              <a:tr h="563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01_fund_master.csv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Master list of 40 mutual fund schemes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9642759"/>
                  </a:ext>
                </a:extLst>
              </a:tr>
              <a:tr h="563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02_nav_history.csv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46,000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Daily NAV from Jan 2022 to May 2026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8386"/>
                  </a:ext>
                </a:extLst>
              </a:tr>
              <a:tr h="563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03_aum_by_fund_house.csv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Quarterly AUM for 10 fund houses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3379467"/>
                  </a:ext>
                </a:extLst>
              </a:tr>
              <a:tr h="321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04_monthly_sip_inflows.csv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Monthly SIP inflow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281683"/>
                  </a:ext>
                </a:extLst>
              </a:tr>
              <a:tr h="321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05_category_inflows.csv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144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Net inflows by fund category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010485"/>
                  </a:ext>
                </a:extLst>
              </a:tr>
              <a:tr h="321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06_industry_folio_count.csv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Total MF folios over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6361936"/>
                  </a:ext>
                </a:extLst>
              </a:tr>
              <a:tr h="563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07_scheme_performance.csv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Returns, Sharpe, Alpha, Beta, Drawdown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2996429"/>
                  </a:ext>
                </a:extLst>
              </a:tr>
              <a:tr h="563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08_investor_transactions.csv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32,778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SIP/Lumpsum/Redemption transactions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78890"/>
                  </a:ext>
                </a:extLst>
              </a:tr>
              <a:tr h="321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09_portfolio_holdings.csv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322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Equity holdings per fund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8738476"/>
                  </a:ext>
                </a:extLst>
              </a:tr>
              <a:tr h="563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10_benchmark_indices.csv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8,050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Nifty 50, Nifty 100, BSE SmallCap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1177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652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34DAF-F207-3061-24D6-6AFF55241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184" y="953009"/>
            <a:ext cx="6556248" cy="557784"/>
          </a:xfrm>
        </p:spPr>
        <p:txBody>
          <a:bodyPr anchor="t">
            <a:normAutofit/>
          </a:bodyPr>
          <a:lstStyle/>
          <a:p>
            <a:r>
              <a:rPr lang="en-IN" dirty="0"/>
              <a:t>System Architecture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F9477-0E09-541A-1BEE-18EAF43FE0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7B645E-C5E5-4727-B977-D372A0AA71D9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6FE2968A-2C68-2349-4EF8-04B97E0AACE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651275371"/>
              </p:ext>
            </p:extLst>
          </p:nvPr>
        </p:nvGraphicFramePr>
        <p:xfrm>
          <a:off x="599440" y="1426466"/>
          <a:ext cx="11161760" cy="50962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8475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CB087B-CB5E-35C5-3AD8-D1A6E1AF8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058" y="612648"/>
            <a:ext cx="6931152" cy="557784"/>
          </a:xfrm>
        </p:spPr>
        <p:txBody>
          <a:bodyPr/>
          <a:lstStyle/>
          <a:p>
            <a:r>
              <a:rPr lang="en-IN" dirty="0"/>
              <a:t>EDA Highlights — Market Trends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BA861DD-A922-D8C3-8CF9-6C197C8712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92890" y="5119117"/>
            <a:ext cx="6406219" cy="160494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SBI dominates AUM at ₹12.5L Cr in 2025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 Liquid funds receive highest inflows consistently</a:t>
            </a:r>
            <a:endParaRPr lang="en-IN" sz="88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EB973B7-09C6-DE73-4B60-F1D16807C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92" y="1306279"/>
            <a:ext cx="6114335" cy="330644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80A5A20-6C96-3EBB-295D-25E461EF6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342" y="1306279"/>
            <a:ext cx="5596466" cy="330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180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4D1FD-9CC8-4CB0-8247-CFAB90695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67" y="1464709"/>
            <a:ext cx="3302000" cy="557784"/>
          </a:xfrm>
        </p:spPr>
        <p:txBody>
          <a:bodyPr/>
          <a:lstStyle/>
          <a:p>
            <a:r>
              <a:rPr lang="en-IN" dirty="0"/>
              <a:t>EDA Highlights — Investor Insights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4A30C30-7BF1-1224-BB9D-0E6FD776C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800" y="305768"/>
            <a:ext cx="8204200" cy="31201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99C96BA-ED15-2C98-4B08-72A887A78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3556000"/>
            <a:ext cx="8204200" cy="29734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4539AD5-2DDB-473B-5B20-F2B13875A47C}"/>
              </a:ext>
            </a:extLst>
          </p:cNvPr>
          <p:cNvSpPr txBox="1"/>
          <p:nvPr/>
        </p:nvSpPr>
        <p:spPr>
          <a:xfrm>
            <a:off x="592667" y="3053375"/>
            <a:ext cx="3183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26-35 age group drives 41.1% of investments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66.3% of investors from T30 cities</a:t>
            </a:r>
          </a:p>
        </p:txBody>
      </p:sp>
    </p:spTree>
    <p:extLst>
      <p:ext uri="{BB962C8B-B14F-4D97-AF65-F5344CB8AC3E}">
        <p14:creationId xmlns:p14="http://schemas.microsoft.com/office/powerpoint/2010/main" val="89773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5D67-56B9-4DBB-5270-4A51BFCD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158" y="841248"/>
            <a:ext cx="6556248" cy="557784"/>
          </a:xfrm>
        </p:spPr>
        <p:txBody>
          <a:bodyPr/>
          <a:lstStyle/>
          <a:p>
            <a:r>
              <a:rPr lang="en-IN" dirty="0"/>
              <a:t>Fund Performance Analytics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D930E-9FE8-F230-9BDF-13B152862E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C173624-6AC6-452A-110F-34FDBA1383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90926"/>
              </p:ext>
            </p:extLst>
          </p:nvPr>
        </p:nvGraphicFramePr>
        <p:xfrm>
          <a:off x="1049867" y="1399032"/>
          <a:ext cx="9571737" cy="3604051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190579">
                  <a:extLst>
                    <a:ext uri="{9D8B030D-6E8A-4147-A177-3AD203B41FA5}">
                      <a16:colId xmlns:a16="http://schemas.microsoft.com/office/drawing/2014/main" val="2637417807"/>
                    </a:ext>
                  </a:extLst>
                </a:gridCol>
                <a:gridCol w="3190579">
                  <a:extLst>
                    <a:ext uri="{9D8B030D-6E8A-4147-A177-3AD203B41FA5}">
                      <a16:colId xmlns:a16="http://schemas.microsoft.com/office/drawing/2014/main" val="1688250064"/>
                    </a:ext>
                  </a:extLst>
                </a:gridCol>
                <a:gridCol w="3190579">
                  <a:extLst>
                    <a:ext uri="{9D8B030D-6E8A-4147-A177-3AD203B41FA5}">
                      <a16:colId xmlns:a16="http://schemas.microsoft.com/office/drawing/2014/main" val="1444841818"/>
                    </a:ext>
                  </a:extLst>
                </a:gridCol>
              </a:tblGrid>
              <a:tr h="502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Formula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Top Fund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895438"/>
                  </a:ext>
                </a:extLst>
              </a:tr>
              <a:tr h="866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CAGR (3yr)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(NAV_end/NAV_start)^(1/n) - 1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Axis Midcap 35.1%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398977"/>
                  </a:ext>
                </a:extLst>
              </a:tr>
              <a:tr h="502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Sharpe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(Rp - Rf) / Std × √252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Mirae Asset 1.07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0645452"/>
                  </a:ext>
                </a:extLst>
              </a:tr>
              <a:tr h="866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Sortino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(Rp - Rf) / Downside Std × √252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Mirae Asset 1.49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5317768"/>
                  </a:ext>
                </a:extLst>
              </a:tr>
              <a:tr h="866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Max Drawdown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min(NAV / </a:t>
                      </a:r>
                      <a:r>
                        <a:rPr lang="en-IN" dirty="0" err="1"/>
                        <a:t>running_max</a:t>
                      </a:r>
                      <a:r>
                        <a:rPr lang="en-IN" dirty="0"/>
                        <a:t> - 1)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SBI Small Cap -52.57%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27026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A1DD471-14DC-7E8E-2A16-777C05E7DEEF}"/>
              </a:ext>
            </a:extLst>
          </p:cNvPr>
          <p:cNvSpPr txBox="1"/>
          <p:nvPr/>
        </p:nvSpPr>
        <p:spPr>
          <a:xfrm>
            <a:off x="821267" y="5410200"/>
            <a:ext cx="8593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ICICI Pru Midcap ranked #1 in composite fund scorecard (score 85.13)</a:t>
            </a:r>
          </a:p>
        </p:txBody>
      </p:sp>
    </p:spTree>
    <p:extLst>
      <p:ext uri="{BB962C8B-B14F-4D97-AF65-F5344CB8AC3E}">
        <p14:creationId xmlns:p14="http://schemas.microsoft.com/office/powerpoint/2010/main" val="3986998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9ACF3-596C-92A5-7AD1-A2B11C037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IN" dirty="0"/>
              <a:t>Risk Analysis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B7C78-0890-627E-C852-B11CAB85CF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5E19FD-9DFD-0DC3-524F-60482C04A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400" y="2220298"/>
            <a:ext cx="5880101" cy="39200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049EA6-5FFA-EB1C-92D7-FD01A41FC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20298"/>
            <a:ext cx="6375400" cy="39200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AF1B6D-3CD2-B596-19A6-B39C37C4D00E}"/>
              </a:ext>
            </a:extLst>
          </p:cNvPr>
          <p:cNvSpPr txBox="1"/>
          <p:nvPr/>
        </p:nvSpPr>
        <p:spPr>
          <a:xfrm>
            <a:off x="1329267" y="1399032"/>
            <a:ext cx="650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Fund correlations near zero — strong diversification benefit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Small Cap funds have highest </a:t>
            </a:r>
            <a:r>
              <a:rPr lang="en-IN" dirty="0" err="1"/>
              <a:t>VaR</a:t>
            </a:r>
            <a:r>
              <a:rPr lang="en-IN" dirty="0"/>
              <a:t> up to -2.39% daily</a:t>
            </a:r>
          </a:p>
        </p:txBody>
      </p:sp>
    </p:spTree>
    <p:extLst>
      <p:ext uri="{BB962C8B-B14F-4D97-AF65-F5344CB8AC3E}">
        <p14:creationId xmlns:p14="http://schemas.microsoft.com/office/powerpoint/2010/main" val="4050281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6F643-9DF2-B730-72CE-75663E4FF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>
            <a:normAutofit/>
          </a:bodyPr>
          <a:lstStyle/>
          <a:p>
            <a:r>
              <a:rPr lang="en-IN" dirty="0"/>
              <a:t>Power BI Dashboard — Industry Overview &amp; Fund Performance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6278C7-83ED-5191-FCC5-EE9A34442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727597"/>
            <a:ext cx="6105960" cy="3931523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5AA3C-075D-E8DD-D48B-DA9E07CBE0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7B645E-C5E5-4727-B977-D372A0AA71D9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12D09D-27B7-DA3E-3C2B-CCC5BE858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360" y="1727597"/>
            <a:ext cx="5855136" cy="393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281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603ED-5845-9B34-EF4D-77F260C55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IN" dirty="0"/>
              <a:t>Power BI Dashboard — Investor Analytics &amp; SIP Trends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33A90-2ED2-EF64-F9B3-7807A3275B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A9C37D-E3B3-4CD0-1828-F9A744C64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7201"/>
            <a:ext cx="6319520" cy="43992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468146-503E-CE06-BBAB-60CCCEE55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727201"/>
            <a:ext cx="5877560" cy="439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25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5D8FACD9-4906-4691-55B9-710FC59D2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9869089" cy="1055963"/>
          </a:xfrm>
        </p:spPr>
        <p:txBody>
          <a:bodyPr/>
          <a:lstStyle/>
          <a:p>
            <a:r>
              <a:rPr lang="en-IN" sz="3600" dirty="0"/>
              <a:t>Key Findings &amp; Recommendations</a:t>
            </a:r>
            <a:endParaRPr lang="en-US" sz="3600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B7BFD7D2-6C97-1E33-B2CC-6AE1EB9EF8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D45A4C16-121E-2E37-49E9-4A4ACF2C51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D585FA3F-E61C-D66E-07B0-F757A8CA60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37E333FD-F3EA-ED3D-DAD7-C1B2247BA3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9A1ECA-2532-8169-94F2-B1080E384AFC}"/>
              </a:ext>
            </a:extLst>
          </p:cNvPr>
          <p:cNvSpPr txBox="1"/>
          <p:nvPr/>
        </p:nvSpPr>
        <p:spPr>
          <a:xfrm>
            <a:off x="841243" y="1727200"/>
            <a:ext cx="931875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Findings:</a:t>
            </a:r>
            <a:endParaRPr lang="en-IN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SBI is India's largest AMC at ₹12.5L Cr AUM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SIP inflows grew 3x to ₹31,002 Cr in 4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97.8% of SIP investors are irregular — </a:t>
            </a:r>
            <a:r>
              <a:rPr lang="en-IN" sz="2000" dirty="0" err="1">
                <a:solidFill>
                  <a:schemeClr val="bg1"/>
                </a:solidFill>
              </a:rPr>
              <a:t>avg</a:t>
            </a:r>
            <a:r>
              <a:rPr lang="en-IN" sz="2000" dirty="0">
                <a:solidFill>
                  <a:schemeClr val="bg1"/>
                </a:solidFill>
              </a:rPr>
              <a:t> gap 64.9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ICICI Pru Midcap is best composite performer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Small Cap funds carry highest risk (</a:t>
            </a:r>
            <a:r>
              <a:rPr lang="en-IN" sz="2000" dirty="0" err="1">
                <a:solidFill>
                  <a:schemeClr val="bg1"/>
                </a:solidFill>
              </a:rPr>
              <a:t>VaR</a:t>
            </a:r>
            <a:r>
              <a:rPr lang="en-IN" sz="2000" dirty="0">
                <a:solidFill>
                  <a:schemeClr val="bg1"/>
                </a:solidFill>
              </a:rPr>
              <a:t> -2.39%)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Recommendations:</a:t>
            </a:r>
            <a:endParaRPr lang="en-IN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AMCs should send SIP reminders to at-risk investors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Retail investors should prefer Moderate risk funds for stable returns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Banking sector concentration (19.2%) needs monitoring</a:t>
            </a:r>
          </a:p>
          <a:p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334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AE480-D58D-8A4F-D9AD-3E0956702A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502D6-B461-D4F4-914E-FBF60773FA29}"/>
              </a:ext>
            </a:extLst>
          </p:cNvPr>
          <p:cNvSpPr txBox="1"/>
          <p:nvPr/>
        </p:nvSpPr>
        <p:spPr>
          <a:xfrm>
            <a:off x="1456267" y="939799"/>
            <a:ext cx="42333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/>
              <a:t>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C6D056-64D0-B6BD-D9E7-17F0C9420337}"/>
              </a:ext>
            </a:extLst>
          </p:cNvPr>
          <p:cNvSpPr txBox="1"/>
          <p:nvPr/>
        </p:nvSpPr>
        <p:spPr>
          <a:xfrm>
            <a:off x="1456267" y="2743200"/>
            <a:ext cx="7916333" cy="2233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 err="1"/>
              <a:t>Bluestock</a:t>
            </a:r>
            <a:r>
              <a:rPr lang="en-IN" b="1" dirty="0"/>
              <a:t> Fintech Mutual Fund Analytics Platform </a:t>
            </a:r>
          </a:p>
          <a:p>
            <a:pPr>
              <a:lnSpc>
                <a:spcPct val="200000"/>
              </a:lnSpc>
            </a:pPr>
            <a:r>
              <a:rPr lang="en-IN" b="1" dirty="0"/>
              <a:t>M Abhinaya Reddy</a:t>
            </a:r>
          </a:p>
          <a:p>
            <a:pPr>
              <a:lnSpc>
                <a:spcPct val="200000"/>
              </a:lnSpc>
            </a:pPr>
            <a:r>
              <a:rPr lang="en-IN" b="1" dirty="0"/>
              <a:t> GitHub: github.com/abhinay1-11/</a:t>
            </a:r>
            <a:r>
              <a:rPr lang="en-IN" b="1" dirty="0" err="1"/>
              <a:t>bluestock_mf_capstone</a:t>
            </a:r>
            <a:r>
              <a:rPr lang="en-IN" b="1" dirty="0"/>
              <a:t> </a:t>
            </a:r>
          </a:p>
          <a:p>
            <a:pPr>
              <a:lnSpc>
                <a:spcPct val="200000"/>
              </a:lnSpc>
            </a:pPr>
            <a:r>
              <a:rPr lang="en-IN" b="1" dirty="0"/>
              <a:t>Email: abhinaya11171@gmail.com</a:t>
            </a:r>
          </a:p>
        </p:txBody>
      </p:sp>
    </p:spTree>
    <p:extLst>
      <p:ext uri="{BB962C8B-B14F-4D97-AF65-F5344CB8AC3E}">
        <p14:creationId xmlns:p14="http://schemas.microsoft.com/office/powerpoint/2010/main" val="155029421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Corporate colors presentation</Template>
  <TotalTime>52</TotalTime>
  <Words>579</Words>
  <Application>Microsoft Office PowerPoint</Application>
  <PresentationFormat>Widescreen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Light</vt:lpstr>
      <vt:lpstr>Arial</vt:lpstr>
      <vt:lpstr>Calibri</vt:lpstr>
      <vt:lpstr>Custom</vt:lpstr>
      <vt:lpstr>Subtitle: Bluestock Fintech Capstone Project  name: M Abhinaya Reddy   Date: 12 June 2026  </vt:lpstr>
      <vt:lpstr>Problem &amp; Objective</vt:lpstr>
      <vt:lpstr>Data Sources</vt:lpstr>
      <vt:lpstr>System Architecture</vt:lpstr>
      <vt:lpstr>EDA Highlights — Market Trends</vt:lpstr>
      <vt:lpstr>EDA Highlights — Investor Insights</vt:lpstr>
      <vt:lpstr>Fund Performance Analytics</vt:lpstr>
      <vt:lpstr>Risk Analysis</vt:lpstr>
      <vt:lpstr>Power BI Dashboard — Industry Overview &amp; Fund Performance</vt:lpstr>
      <vt:lpstr>Power BI Dashboard — Investor Analytics &amp; SIP Trends</vt:lpstr>
      <vt:lpstr>Key Findings &amp; 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abhinaya reddy</dc:creator>
  <cp:lastModifiedBy>abhinaya reddy</cp:lastModifiedBy>
  <cp:revision>1</cp:revision>
  <dcterms:created xsi:type="dcterms:W3CDTF">2026-06-12T05:17:05Z</dcterms:created>
  <dcterms:modified xsi:type="dcterms:W3CDTF">2026-06-12T06:09:13Z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